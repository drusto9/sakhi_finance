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1A6F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4A1A6F"/>
                </a:solidFill>
                <a:latin typeface="Georgia"/>
              </a:rPr>
              <a:t>Feature importance (LightGBM gain)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(gain)</c:v>
                </c:pt>
              </c:strCache>
            </c:strRef>
          </c:tx>
          <c:spPr>
            <a:solidFill>
              <a:srgbClr val="6E2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Savings ratio</c:v>
                  </c:pt>
                  <c:pt idx="1">
                    <c:v>Income regularity</c:v>
                  </c:pt>
                  <c:pt idx="2">
                    <c:v>Discretionary spend</c:v>
                  </c:pt>
                  <c:pt idx="3">
                    <c:v>Patience</c:v>
                  </c:pt>
                  <c:pt idx="4">
                    <c:v>EMI count</c:v>
                  </c:pt>
                  <c:pt idx="5">
                    <c:v>Cooperation</c:v>
                  </c:pt>
                  <c:pt idx="6">
                    <c:v>ATM share</c:v>
                  </c:pt>
                  <c:pt idx="7">
                    <c:v>Avg inflow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1647</c:v>
                </c:pt>
                <c:pt idx="1">
                  <c:v>1616</c:v>
                </c:pt>
                <c:pt idx="2">
                  <c:v>1337</c:v>
                </c:pt>
                <c:pt idx="3">
                  <c:v>1285</c:v>
                </c:pt>
                <c:pt idx="4">
                  <c:v>1070</c:v>
                </c:pt>
                <c:pt idx="5">
                  <c:v>943</c:v>
                </c:pt>
                <c:pt idx="6">
                  <c:v>636</c:v>
                </c:pt>
                <c:pt idx="7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CE4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6C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108960"/>
            <a:ext cx="4754880" cy="475488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3291840" cy="3291840"/>
          </a:xfrm>
          <a:prstGeom prst="ellipse">
            <a:avLst/>
          </a:prstGeom>
          <a:solidFill>
            <a:srgbClr val="F4A261">
              <a:alpha val="4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3657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UCO BANK · BHARATSCORE V2 PITCH ·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Sakhi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सखी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for every Bharatiya.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alternative credit scoring platform for the 250M+ Indians invisible to CIBIL.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github.com/DrustO9/Sakhi_finance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 billion Indians. Half are credit-invisible.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65176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250M+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with no formal credit history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CIBIL, no bureau record — invisible to traditional banks.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5544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554480"/>
            <a:ext cx="73152" cy="2651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93008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adults hold a formal loan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93008" y="32461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the median is 47%. The gap is mostly the informal sector.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15544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554480"/>
            <a:ext cx="73152" cy="265176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₹37 L Cr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0216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lending opportunity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32461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estimate of credit demand from MSMEs and underbanked households.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borrowers are not high-risk — they are unmeasured. Banks use the wrong yardstick on the wrong people.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the bank wants doesn't exist for them.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2926080"/>
          </a:xfrm>
          <a:prstGeom prst="rect">
            <a:avLst/>
          </a:prstGeom>
          <a:solidFill>
            <a:srgbClr val="FFF5F2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926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CIBIL requires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loan repayment history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Credit-card utilization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Salaried-employee income proofs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address &amp; bureau record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track record minimum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743200"/>
            <a:ext cx="91440" cy="548640"/>
          </a:xfrm>
          <a:prstGeom prst="rect">
            <a:avLst/>
          </a:prstGeom>
          <a:solidFill>
            <a:srgbClr val="6C6C80"/>
          </a:solidFill>
          <a:ln w="12700">
            <a:solidFill>
              <a:srgbClr val="6C6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2926080"/>
          </a:xfrm>
          <a:prstGeom prst="rect">
            <a:avLst/>
          </a:prstGeom>
          <a:solidFill>
            <a:srgbClr val="F2FAF7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54480"/>
            <a:ext cx="73152" cy="2926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user actually has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of UPI transactions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cash flow from a kirana / farm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community guarantors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patterns (savings, time-discount)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smartphone and a Hindi voice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 reads the right signals — the ones already there.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Sakhi scores the unscored — in three steps.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301752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Cash-Flow Parser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6 months of UPI activity. Extract 8 financial-behavior features in seconds.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" y="41605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160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Shipped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4408" y="155448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1554480"/>
            <a:ext cx="73152" cy="301752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7830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8728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Vernacular Psychometric Test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38728" y="2926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audio-narrated questions in Hindi &amp; English. Grounded in Klinger et al. (2013).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538728" y="41605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38728" y="4160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Shipped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71616" y="155448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71616" y="1554480"/>
            <a:ext cx="73152" cy="301752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7830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45936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Counterfactual Explanations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45936" y="2926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comes with 3 actionable improvement paths — generated by DiCE.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345936" y="41605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45936" y="4160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Shipped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Cash-Flow Parser — what 6 months of UPI tells us.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73152" cy="315468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PDF to score in seconds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3500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/ GPay / bank statement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697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transactions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9443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→ 200–500 rows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291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features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5387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behavioral signals per applicant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886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LightGBM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133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default in &lt;2s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508760"/>
            <a:ext cx="411480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508760"/>
            <a:ext cx="73152" cy="315468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27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features extracted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1938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power per BharatScore v2 spec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240280"/>
            <a:ext cx="1874520" cy="475488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2768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regularity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4871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20840" y="2240280"/>
            <a:ext cx="1874520" cy="475488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22768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ratio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12280" y="24871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798064"/>
            <a:ext cx="1874520" cy="475488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834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inflow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3044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20840" y="2798064"/>
            <a:ext cx="1874520" cy="475488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2834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spending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12280" y="3044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355848"/>
            <a:ext cx="1874520" cy="475488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39242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count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0" y="36027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20840" y="3355848"/>
            <a:ext cx="1874520" cy="475488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339242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diversity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12280" y="36027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913632"/>
            <a:ext cx="1874520" cy="475488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950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transfer share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46320" y="41605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20840" y="3913632"/>
            <a:ext cx="1874520" cy="475488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12280" y="3950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withdrawal share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812280" y="41605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signal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signal where data history doesn't exist.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73152" cy="315468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research, not guesswork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Klinger, Khwaja &amp; LaMonte (2013) — IDB Working Paper IDB-WP-587 — show a 25-min psychometric battery hits AUC </a:t>
            </a:r>
            <a:pPr indent="0" marL="0">
              <a:buNone/>
            </a:pPr>
            <a:r>
              <a:rPr lang="en-US" sz="1100" b="1" dirty="0">
                <a:solidFill>
                  <a:srgbClr val="6E2A9F"/>
                </a:solidFill>
              </a:rPr>
              <a:t>0.69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for borrowers with no bureau record — comparable to a traditional credit score.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constructs measured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Time-discount (Frederick et al. 2002)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tolerance (Kahneman-Tversky 1979)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(Berg-Dickhaut-McCabe 1995)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Numeracy (Lipkus-Samsa-Rimer 2001)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response (CD-RISC, Connor 2003)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73152" cy="3154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· हिं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Time-Discount  ·  td_1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"आपको अचानक 10,000 रुपये मिलते हैं — आप अभी टीवी खरीदेंगे, या अगली फसल के लिए बचाएंगे?"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937760" y="3108960"/>
            <a:ext cx="3657600" cy="411480"/>
          </a:xfrm>
          <a:prstGeom prst="rect">
            <a:avLst/>
          </a:prstGeom>
          <a:solidFill>
            <a:srgbClr val="FAF7FB"/>
          </a:solidFill>
          <a:ln w="12700">
            <a:solidFill>
              <a:srgbClr val="ECE4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1089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टीवी पर अभी खर्च करें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611880"/>
            <a:ext cx="3657600" cy="411480"/>
          </a:xfrm>
          <a:prstGeom prst="rect">
            <a:avLst/>
          </a:prstGeom>
          <a:solidFill>
            <a:srgbClr val="F5EDFB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अगले सीज़न के लिए बचाएं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416052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85232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narration in EN + HI · browser TTS fallback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Rejection isn't a dead end — it's a path.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73152" cy="315468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"no" to "do this"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rejected applicant gets 3 concrete improvement paths — computed by DiCE on the trained LightGBM model.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applied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features only (no "be older" suggestions)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deltas (no 300% income jump)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diverse paths so users can pick what's feasible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73152" cy="3154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 ·  Tier D applicant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reach Tier B, you can: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657600" cy="640080"/>
          </a:xfrm>
          <a:prstGeom prst="rect">
            <a:avLst/>
          </a:prstGeom>
          <a:solidFill>
            <a:srgbClr val="FFF8F0"/>
          </a:solidFill>
          <a:ln w="6350">
            <a:solidFill>
              <a:srgbClr val="ECE4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5786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savings ratio  −2.0 → +0.6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7706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discretionary spend by 40%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044952"/>
            <a:ext cx="3657600" cy="640080"/>
          </a:xfrm>
          <a:prstGeom prst="rect">
            <a:avLst/>
          </a:prstGeom>
          <a:solidFill>
            <a:srgbClr val="FAF7FB"/>
          </a:solidFill>
          <a:ln w="6350">
            <a:solidFill>
              <a:srgbClr val="ECE4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090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patience score  0.0 → 0.9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4838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coaching · 60 days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758184"/>
            <a:ext cx="3657600" cy="640080"/>
          </a:xfrm>
          <a:prstGeom prst="rect">
            <a:avLst/>
          </a:prstGeom>
          <a:solidFill>
            <a:srgbClr val="FAF7FB"/>
          </a:solidFill>
          <a:ln w="6350">
            <a:solidFill>
              <a:srgbClr val="ECE4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803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40050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existing EMIs  6 →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1970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active loans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SHIPPED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signup to score in 60 seconds.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3017520"/>
          </a:xfrm>
          <a:prstGeom prst="rect">
            <a:avLst/>
          </a:prstGeom>
          <a:solidFill>
            <a:srgbClr val="4A1A6F"/>
          </a:solidFill>
          <a:ln w="12700">
            <a:solidFill>
              <a:srgbClr val="4A1A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682496"/>
            <a:ext cx="1773936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682496"/>
            <a:ext cx="1773936" cy="438912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9164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Sakhi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33172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EN/हिं toggle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402336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8448" y="4023360"/>
            <a:ext cx="109728" cy="109728"/>
          </a:xfrm>
          <a:prstGeom prst="ellipse">
            <a:avLst/>
          </a:prstGeom>
          <a:solidFill>
            <a:srgbClr val="ECE4F1"/>
          </a:solidFill>
          <a:ln w="12700">
            <a:solidFill>
              <a:srgbClr val="EC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9616" y="4023360"/>
            <a:ext cx="109728" cy="109728"/>
          </a:xfrm>
          <a:prstGeom prst="ellipse">
            <a:avLst/>
          </a:prstGeom>
          <a:solidFill>
            <a:srgbClr val="ECE4F1"/>
          </a:solidFill>
          <a:ln w="12700">
            <a:solidFill>
              <a:srgbClr val="ECE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554480"/>
            <a:ext cx="1920240" cy="3017520"/>
          </a:xfrm>
          <a:prstGeom prst="rect">
            <a:avLst/>
          </a:prstGeom>
          <a:solidFill>
            <a:srgbClr val="4A1A6F"/>
          </a:solidFill>
          <a:ln w="12700">
            <a:solidFill>
              <a:srgbClr val="4A1A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1682496"/>
            <a:ext cx="1773936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1682496"/>
            <a:ext cx="1773936" cy="438912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69164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Sakhi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10128" y="233172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70048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Upload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70048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8 features in &lt;2s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4023360"/>
            <a:ext cx="109728" cy="109728"/>
          </a:xfrm>
          <a:prstGeom prst="ellipse">
            <a:avLst/>
          </a:prstGeom>
          <a:solidFill>
            <a:srgbClr val="ECE4F1"/>
          </a:solidFill>
          <a:ln w="12700">
            <a:solidFill>
              <a:srgbClr val="ECE4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9856" y="402336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21024" y="4023360"/>
            <a:ext cx="109728" cy="109728"/>
          </a:xfrm>
          <a:prstGeom prst="ellipse">
            <a:avLst/>
          </a:prstGeom>
          <a:solidFill>
            <a:srgbClr val="ECE4F1"/>
          </a:solidFill>
          <a:ln w="12700">
            <a:solidFill>
              <a:srgbClr val="ECE4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1554480"/>
            <a:ext cx="1920240" cy="3017520"/>
          </a:xfrm>
          <a:prstGeom prst="rect">
            <a:avLst/>
          </a:prstGeom>
          <a:solidFill>
            <a:srgbClr val="4A1A6F"/>
          </a:solidFill>
          <a:ln w="12700">
            <a:solidFill>
              <a:srgbClr val="4A1A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1682496"/>
            <a:ext cx="1773936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1682496"/>
            <a:ext cx="1773936" cy="438912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169164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Sakhi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31536" y="233172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91456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Test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91456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questions, audio narration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0096" y="4023360"/>
            <a:ext cx="109728" cy="109728"/>
          </a:xfrm>
          <a:prstGeom prst="ellipse">
            <a:avLst/>
          </a:prstGeom>
          <a:solidFill>
            <a:srgbClr val="ECE4F1"/>
          </a:solidFill>
          <a:ln w="12700">
            <a:solidFill>
              <a:srgbClr val="ECE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41264" y="4023360"/>
            <a:ext cx="109728" cy="109728"/>
          </a:xfrm>
          <a:prstGeom prst="ellipse">
            <a:avLst/>
          </a:prstGeom>
          <a:solidFill>
            <a:srgbClr val="ECE4F1"/>
          </a:solidFill>
          <a:ln w="12700">
            <a:solidFill>
              <a:srgbClr val="ECE4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2432" y="402336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21424" y="1554480"/>
            <a:ext cx="1920240" cy="3017520"/>
          </a:xfrm>
          <a:prstGeom prst="rect">
            <a:avLst/>
          </a:prstGeom>
          <a:solidFill>
            <a:srgbClr val="4A1A6F"/>
          </a:solidFill>
          <a:ln w="12700">
            <a:solidFill>
              <a:srgbClr val="4A1A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94576" y="1682496"/>
            <a:ext cx="1773936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94576" y="1682496"/>
            <a:ext cx="1773936" cy="438912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169164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Sakhi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552944" y="233172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5294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912864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+ Path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12864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· SHAP · counterfactuals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61504" y="4023360"/>
            <a:ext cx="109728" cy="109728"/>
          </a:xfrm>
          <a:prstGeom prst="ellipse">
            <a:avLst/>
          </a:prstGeom>
          <a:solidFill>
            <a:srgbClr val="ECE4F1"/>
          </a:solidFill>
          <a:ln w="12700">
            <a:solidFill>
              <a:srgbClr val="ECE4F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62672" y="4023360"/>
            <a:ext cx="109728" cy="109728"/>
          </a:xfrm>
          <a:prstGeom prst="ellipse">
            <a:avLst/>
          </a:prstGeom>
          <a:solidFill>
            <a:srgbClr val="ECE4F1"/>
          </a:solidFill>
          <a:ln w="12700">
            <a:solidFill>
              <a:srgbClr val="ECE4F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0" y="4023360"/>
            <a:ext cx="109728" cy="109728"/>
          </a:xfrm>
          <a:prstGeom prst="ellipse">
            <a:avLst/>
          </a:prstGeom>
          <a:solidFill>
            <a:srgbClr val="ECE4F1"/>
          </a:solidFill>
          <a:ln w="12700">
            <a:solidFill>
              <a:srgbClr val="ECE4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local demo · localhost:5173 · runs offline · sample PDFs in repo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Boring stack. Sharp output.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556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554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— mobile-first frontend (460 px frame · EN/HI i18n)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395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/api/parse-upi · /api/score · /api/admin/*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743200"/>
            <a:ext cx="82296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E2A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154680"/>
            <a:ext cx="1874520" cy="960120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46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3547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31520" y="3803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tx rows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633472" y="3154680"/>
            <a:ext cx="1874520" cy="960120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3246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24912" y="3547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agg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2724912" y="3803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UPI signals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26864" y="3154680"/>
            <a:ext cx="1874520" cy="960120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32461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18304" y="3547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PD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18304" y="3803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0.674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620256" y="3154680"/>
            <a:ext cx="1874520" cy="960120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324612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11696" y="3547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DiCE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6711696" y="3803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· CFs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4A1A6F"/>
          </a:solidFill>
          <a:ln w="12700">
            <a:solidFill>
              <a:srgbClr val="4A1A6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applications + decisions log + SHAP per row · upgradeable to Postgres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0.674 AUC — in line with peer-reviewed precedent.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73152" cy="310896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6E2A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0.674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· 6,000 synthetic applicants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0.855 · default rate 31.8% · stratified split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291840" cy="868680"/>
          </a:xfrm>
          <a:prstGeom prst="rect">
            <a:avLst/>
          </a:prstGeom>
          <a:solidFill>
            <a:srgbClr val="F5EDFB"/>
          </a:solidFill>
          <a:ln w="12700">
            <a:solidFill>
              <a:srgbClr val="F5ED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11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Klinger et al. (2013) reported AUC = 0.69 on Peruvian micro-entrepreneurs with no bureau record.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297680" y="1508760"/>
          <a:ext cx="4389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UCO BANK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PSU banks own this segment. They just can't see it.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91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network advantage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25880" y="2057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UCO has 3,000+ rural &amp; semi-urban branches. Sakhi turns each into a digital onboarding node — no new infra.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554480"/>
            <a:ext cx="73152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691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Aligns with PMJDY / financial inclusion mandate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532120" y="2057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 banks are explicitly tasked to serve the underbanked. Sakhi makes the unit economics work.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1546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154680"/>
            <a:ext cx="73152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375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291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DPDP-ready by design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25880" y="3657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Per-application consent tokens, scoped data retention, audit log on every decision.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1546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3154680"/>
            <a:ext cx="73152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3375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291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Defensible against private players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532120" y="3657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in-house alt-credit moat before fintechs cherry-pick the same segment with fewer protections.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features, three tiers, 12 weeks to v1.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30175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 · Shipped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2 WEEKS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457200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Cash-Flow Parser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Explanations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Psychometric Test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64408" y="155448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1554480"/>
            <a:ext cx="73152" cy="3017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 · Next 6 weeks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93008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93008" y="2377440"/>
            <a:ext cx="4572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3008" y="260604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41648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Risk Assessment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93008" y="310896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041648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 Scoring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93008" y="361188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41648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Nudge Engine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71616" y="155448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71616" y="1554480"/>
            <a:ext cx="73152" cy="3017520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2A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 · 12-week roadmap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00216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MOAT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0216" y="2377440"/>
            <a:ext cx="457200" cy="36576"/>
          </a:xfrm>
          <a:prstGeom prst="rect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0216" y="2606040"/>
            <a:ext cx="457200" cy="457200"/>
          </a:xfrm>
          <a:prstGeom prst="ellipse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48856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Scoring Track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00216" y="3108960"/>
            <a:ext cx="457200" cy="457200"/>
          </a:xfrm>
          <a:prstGeom prst="ellipse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848856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Lending (SHG Mode)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00216" y="3611880"/>
            <a:ext cx="457200" cy="457200"/>
          </a:xfrm>
          <a:prstGeom prst="ellipse">
            <a:avLst/>
          </a:prstGeom>
          <a:solidFill>
            <a:srgbClr val="6E2A9F"/>
          </a:solidFill>
          <a:ln w="12700">
            <a:solidFill>
              <a:srgbClr val="6E2A9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0216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48856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Insurance Pool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9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pilot we can both learn from.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500-borrower pilot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196596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district · 3 months · UCO branch staff onboard borrowers, Sakhi scores them. Real-loan performance feeds model recalibration.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51460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Anonymized loan-performance data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25880" y="292608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24 months of disbursements + 90-day-default flags from one PSU portfolio. Drives our supervised retraining.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47472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47472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API access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25880" y="388620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UCO's KYC/Aadhaar verification rails for the pilot cohort, under a signed DPDP-compliant DPA.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4A1A6F"/>
          </a:solidFill>
          <a:ln w="12700">
            <a:solidFill>
              <a:srgbClr val="4A1A6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return: open-source code, full SHAP audit trail, joint co-authorship on the pilot study.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2960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7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2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1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48640"/>
            <a:ext cx="3657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सखी का सपना — हर भारतीय के लिए ऋण।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github.com/DrustO9/Sakhi_finance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3159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demo: backend on :8000 · frontend on :5173 · runs offline · 4 sample UPI PDFs in repo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Sakhi · UCO Bank BharatScore v2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Sakhi — Credit for Bharat</dc:title>
  <dc:subject>PptxGenJS Presentation</dc:subject>
  <dc:creator>Team Sakhi</dc:creator>
  <cp:lastModifiedBy>Team Sakhi</cp:lastModifiedBy>
  <cp:revision>1</cp:revision>
  <dcterms:created xsi:type="dcterms:W3CDTF">2026-05-06T20:09:47Z</dcterms:created>
  <dcterms:modified xsi:type="dcterms:W3CDTF">2026-05-06T20:09:47Z</dcterms:modified>
</cp:coreProperties>
</file>